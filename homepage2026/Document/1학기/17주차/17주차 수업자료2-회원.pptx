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66" r:id="rId4"/>
    <p:sldId id="273" r:id="rId5"/>
    <p:sldId id="27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F4A912-36E0-4FFE-A943-DD202177CE2F}"/>
              </a:ext>
            </a:extLst>
          </p:cNvPr>
          <p:cNvSpPr txBox="1"/>
          <p:nvPr/>
        </p:nvSpPr>
        <p:spPr>
          <a:xfrm>
            <a:off x="5953127" y="536772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551AA-A2F8-463F-A6FD-6302F861C220}"/>
              </a:ext>
            </a:extLst>
          </p:cNvPr>
          <p:cNvSpPr txBox="1"/>
          <p:nvPr/>
        </p:nvSpPr>
        <p:spPr>
          <a:xfrm>
            <a:off x="1857730" y="536772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물리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E3FACBD-5783-42E9-B21B-5DD13769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66" y="595701"/>
            <a:ext cx="2819400" cy="47720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64EBE0-7F93-479D-A003-A621D065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346" y="693209"/>
            <a:ext cx="1409700" cy="47434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F5996CD-0F26-47FA-BB58-037AE11CCDEF}"/>
              </a:ext>
            </a:extLst>
          </p:cNvPr>
          <p:cNvSpPr/>
          <p:nvPr/>
        </p:nvSpPr>
        <p:spPr>
          <a:xfrm>
            <a:off x="5890591" y="934278"/>
            <a:ext cx="1119809" cy="284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FA9E25-5D8D-4D2E-86FF-18A7D45B9626}"/>
              </a:ext>
            </a:extLst>
          </p:cNvPr>
          <p:cNvSpPr/>
          <p:nvPr/>
        </p:nvSpPr>
        <p:spPr>
          <a:xfrm>
            <a:off x="5890591" y="1364974"/>
            <a:ext cx="111980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E4043F-97D4-4052-BF09-6A22DA1BFF32}"/>
              </a:ext>
            </a:extLst>
          </p:cNvPr>
          <p:cNvSpPr/>
          <p:nvPr/>
        </p:nvSpPr>
        <p:spPr>
          <a:xfrm>
            <a:off x="5890591" y="2612381"/>
            <a:ext cx="1119809" cy="309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F72D58-18F9-40B5-A129-6FD99D8657A8}"/>
              </a:ext>
            </a:extLst>
          </p:cNvPr>
          <p:cNvSpPr/>
          <p:nvPr/>
        </p:nvSpPr>
        <p:spPr>
          <a:xfrm>
            <a:off x="5890591" y="3800179"/>
            <a:ext cx="1119809" cy="188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DD0FF6-C02D-4346-802A-6728E4EF9A2C}"/>
              </a:ext>
            </a:extLst>
          </p:cNvPr>
          <p:cNvSpPr/>
          <p:nvPr/>
        </p:nvSpPr>
        <p:spPr>
          <a:xfrm>
            <a:off x="5890591" y="4591878"/>
            <a:ext cx="1119809" cy="321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AC661E-6976-4A8F-A3D5-A2D7D94E595B}"/>
              </a:ext>
            </a:extLst>
          </p:cNvPr>
          <p:cNvSpPr/>
          <p:nvPr/>
        </p:nvSpPr>
        <p:spPr>
          <a:xfrm>
            <a:off x="5890591" y="5027323"/>
            <a:ext cx="1119809" cy="174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4605EE-7D1B-4C38-AFAB-83BA158D7A84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2882348" y="1000539"/>
            <a:ext cx="3008243" cy="76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A4B524F-B896-4830-A3C3-75FC3A46DF7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882348" y="1421341"/>
            <a:ext cx="3008243" cy="128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870457D-0E92-4585-95ED-66B739B4341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399183" y="2638944"/>
            <a:ext cx="2491408" cy="128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225A964-BBDE-4389-93DB-4E246637CAF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014870" y="3800179"/>
            <a:ext cx="2875721" cy="943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D16F6E6-0649-4AC6-B4BF-570EE2FEB546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465443" y="4657991"/>
            <a:ext cx="2425148" cy="94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B196AC4-50DA-4547-B394-21CE42947019}"/>
              </a:ext>
            </a:extLst>
          </p:cNvPr>
          <p:cNvCxnSpPr>
            <a:cxnSpLocks/>
          </p:cNvCxnSpPr>
          <p:nvPr/>
        </p:nvCxnSpPr>
        <p:spPr>
          <a:xfrm flipH="1" flipV="1">
            <a:off x="2827867" y="5027323"/>
            <a:ext cx="3062724" cy="1045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8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BFF8138-CBCF-4458-B7EA-5BD37A9555AB}"/>
              </a:ext>
            </a:extLst>
          </p:cNvPr>
          <p:cNvSpPr/>
          <p:nvPr/>
        </p:nvSpPr>
        <p:spPr>
          <a:xfrm>
            <a:off x="0" y="1018613"/>
            <a:ext cx="1178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&lt;!-- JOIN START--&gt;          </a:t>
            </a:r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joinIdGnrService</a:t>
            </a:r>
            <a:r>
              <a:rPr lang="en-US" altLang="ko-KR" dirty="0"/>
              <a:t>" class="</a:t>
            </a:r>
            <a:r>
              <a:rPr lang="en-US" altLang="ko-KR" dirty="0" err="1"/>
              <a:t>egovframework.rte.fdl.idgnr.impl.EgovTableIdGnrServiceImpl</a:t>
            </a:r>
            <a:r>
              <a:rPr lang="en-US" altLang="ko-KR" dirty="0"/>
              <a:t>"</a:t>
            </a:r>
          </a:p>
          <a:p>
            <a:r>
              <a:rPr lang="en-US" altLang="ko-KR" dirty="0"/>
              <a:t>        destroy-method="destroy"&gt;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dataSource</a:t>
            </a:r>
            <a:r>
              <a:rPr lang="en-US" altLang="ko-KR" dirty="0"/>
              <a:t>" ref="</a:t>
            </a:r>
            <a:r>
              <a:rPr lang="en-US" altLang="ko-KR" dirty="0" err="1"/>
              <a:t>egov.dataSource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name="strategy"   ref="</a:t>
            </a:r>
            <a:r>
              <a:rPr lang="en-US" altLang="ko-KR" dirty="0" err="1"/>
              <a:t>joinStrategy</a:t>
            </a:r>
            <a:r>
              <a:rPr lang="en-US" altLang="ko-KR" dirty="0"/>
              <a:t>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blockSize</a:t>
            </a:r>
            <a:r>
              <a:rPr lang="en-US" altLang="ko-KR" dirty="0"/>
              <a:t>"  value="10"/&gt;</a:t>
            </a:r>
          </a:p>
          <a:p>
            <a:r>
              <a:rPr lang="en-US" altLang="ko-KR" dirty="0"/>
              <a:t>        &lt;property name="table"      value="IDS"/&gt;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tableName</a:t>
            </a:r>
            <a:r>
              <a:rPr lang="en-US" altLang="ko-KR" dirty="0"/>
              <a:t>"  value="ESNTL_ID"/&gt;</a:t>
            </a:r>
          </a:p>
          <a:p>
            <a:r>
              <a:rPr lang="en-US" altLang="ko-KR" dirty="0"/>
              <a:t>    &lt;/bean&gt;</a:t>
            </a:r>
          </a:p>
          <a:p>
            <a:endParaRPr lang="en-US" altLang="ko-KR" dirty="0"/>
          </a:p>
          <a:p>
            <a:r>
              <a:rPr lang="en-US" altLang="ko-KR" dirty="0"/>
              <a:t>    &lt;bean name="</a:t>
            </a:r>
            <a:r>
              <a:rPr lang="en-US" altLang="ko-KR" dirty="0" err="1"/>
              <a:t>joinStrategy</a:t>
            </a:r>
            <a:r>
              <a:rPr lang="en-US" altLang="ko-KR" dirty="0"/>
              <a:t>" class="egovframework.rte.fdl.idgnr.impl.strategy.EgovIdGnrStrategyImpl"&gt;</a:t>
            </a:r>
          </a:p>
          <a:p>
            <a:r>
              <a:rPr lang="en-US" altLang="ko-KR" dirty="0"/>
              <a:t>        &lt;property name="prefix" value="ESNTL_"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cipers</a:t>
            </a:r>
            <a:r>
              <a:rPr lang="en-US" altLang="ko-KR" dirty="0"/>
              <a:t>" value="14" /&gt;</a:t>
            </a:r>
          </a:p>
          <a:p>
            <a:r>
              <a:rPr lang="en-US" altLang="ko-KR" dirty="0"/>
              <a:t>        &lt;property name="</a:t>
            </a:r>
            <a:r>
              <a:rPr lang="en-US" altLang="ko-KR" dirty="0" err="1"/>
              <a:t>fillChar</a:t>
            </a:r>
            <a:r>
              <a:rPr lang="en-US" altLang="ko-KR" dirty="0"/>
              <a:t>" value="0" /&gt;</a:t>
            </a:r>
          </a:p>
          <a:p>
            <a:r>
              <a:rPr lang="en-US" altLang="ko-KR" dirty="0"/>
              <a:t>    &lt;/bean&gt;   </a:t>
            </a:r>
          </a:p>
          <a:p>
            <a:r>
              <a:rPr lang="en-US" altLang="ko-KR" dirty="0"/>
              <a:t>    &lt;!-- JOIN END--&gt;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40CE3F-BC7E-4875-B843-948BE0F2BA9B}"/>
              </a:ext>
            </a:extLst>
          </p:cNvPr>
          <p:cNvSpPr/>
          <p:nvPr/>
        </p:nvSpPr>
        <p:spPr>
          <a:xfrm>
            <a:off x="287867" y="571900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* </a:t>
            </a:r>
            <a:r>
              <a:rPr lang="ko-KR" altLang="en-US" b="1" dirty="0">
                <a:solidFill>
                  <a:srgbClr val="800000"/>
                </a:solidFill>
                <a:latin typeface="Consolas" panose="020B0609020204030204" pitchFamily="49" charset="0"/>
              </a:rPr>
              <a:t>기존 데이터 확인 필요</a:t>
            </a:r>
            <a:endParaRPr lang="en-US" altLang="ko-KR" b="1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ids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(TABLE_NAME, NEXT_ID)</a:t>
            </a: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'ESNTL_ID'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B335A-FFD1-4667-865B-84AC794B9E2E}"/>
              </a:ext>
            </a:extLst>
          </p:cNvPr>
          <p:cNvSpPr txBox="1"/>
          <p:nvPr/>
        </p:nvSpPr>
        <p:spPr>
          <a:xfrm>
            <a:off x="160866" y="296333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idgen</a:t>
            </a:r>
            <a:r>
              <a:rPr lang="ko-KR" altLang="en-US" dirty="0"/>
              <a:t>작업</a:t>
            </a:r>
          </a:p>
        </p:txBody>
      </p:sp>
    </p:spTree>
    <p:extLst>
      <p:ext uri="{BB962C8B-B14F-4D97-AF65-F5344CB8AC3E}">
        <p14:creationId xmlns:p14="http://schemas.microsoft.com/office/powerpoint/2010/main" val="248122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E3AED8-141A-4F5D-B614-5101C9D2E612}"/>
              </a:ext>
            </a:extLst>
          </p:cNvPr>
          <p:cNvSpPr/>
          <p:nvPr/>
        </p:nvSpPr>
        <p:spPr>
          <a:xfrm>
            <a:off x="238983" y="233912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pom.xml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BDC83-1C0E-4E71-BD87-0A56E66FDD7C}"/>
              </a:ext>
            </a:extLst>
          </p:cNvPr>
          <p:cNvSpPr/>
          <p:nvPr/>
        </p:nvSpPr>
        <p:spPr>
          <a:xfrm>
            <a:off x="196241" y="999012"/>
            <a:ext cx="119957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&lt;!-- JSON --&gt;</a:t>
            </a:r>
          </a:p>
          <a:p>
            <a:r>
              <a:rPr lang="en-US" altLang="ko-KR" dirty="0"/>
              <a:t>&lt;dependency&gt;</a:t>
            </a:r>
          </a:p>
          <a:p>
            <a:r>
              <a:rPr lang="en-US" altLang="ko-KR" dirty="0"/>
              <a:t>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net.sf.json</a:t>
            </a:r>
            <a:r>
              <a:rPr lang="en-US" altLang="ko-KR" dirty="0"/>
              <a:t>-lib&lt;/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&gt;json-lib&lt;/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&lt;version&gt;2.4&lt;/version&gt;</a:t>
            </a:r>
          </a:p>
          <a:p>
            <a:r>
              <a:rPr lang="en-US" altLang="ko-KR" dirty="0"/>
              <a:t>    &lt;classifier&gt;jdk15&lt;/classifier&gt;</a:t>
            </a:r>
          </a:p>
          <a:p>
            <a:r>
              <a:rPr lang="en-US" altLang="ko-KR" dirty="0"/>
              <a:t>&lt;/dependency&gt;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550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5B94-A09E-9C0C-C8BA-8068762E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8DE809-5C5D-A190-76A5-9C98B457DE1B}"/>
              </a:ext>
            </a:extLst>
          </p:cNvPr>
          <p:cNvSpPr/>
          <p:nvPr/>
        </p:nvSpPr>
        <p:spPr>
          <a:xfrm>
            <a:off x="238983" y="233912"/>
            <a:ext cx="1263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Header.jsp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3B5088-0761-2A45-04FB-0EB3CDAF9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32" y="828762"/>
            <a:ext cx="3834970" cy="72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9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65A45BD-5FB2-4F66-BD20-63A97129C9B8}"/>
              </a:ext>
            </a:extLst>
          </p:cNvPr>
          <p:cNvSpPr/>
          <p:nvPr/>
        </p:nvSpPr>
        <p:spPr>
          <a:xfrm>
            <a:off x="299560" y="967935"/>
            <a:ext cx="5066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message-common.properties</a:t>
            </a:r>
            <a:r>
              <a:rPr lang="en-US" altLang="ko-KR" dirty="0"/>
              <a:t>(</a:t>
            </a:r>
            <a:r>
              <a:rPr lang="ko-KR" altLang="en-US" dirty="0" err="1"/>
              <a:t>메세지파일</a:t>
            </a:r>
            <a:r>
              <a:rPr lang="ko-KR" altLang="en-US" dirty="0"/>
              <a:t> 전부</a:t>
            </a:r>
            <a:r>
              <a:rPr lang="en-US" altLang="ko-KR" dirty="0"/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108243-37A8-4C90-985A-6A526D27E9BA}"/>
              </a:ext>
            </a:extLst>
          </p:cNvPr>
          <p:cNvSpPr/>
          <p:nvPr/>
        </p:nvSpPr>
        <p:spPr>
          <a:xfrm>
            <a:off x="299559" y="1409788"/>
            <a:ext cx="102355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회원가입</a:t>
            </a:r>
          </a:p>
          <a:p>
            <a:r>
              <a:rPr lang="en-US" altLang="ko-KR" dirty="0" err="1"/>
              <a:t>fail.duplicate.member</a:t>
            </a:r>
            <a:r>
              <a:rPr lang="en-US" altLang="ko-KR" dirty="0"/>
              <a:t> = </a:t>
            </a:r>
            <a:r>
              <a:rPr lang="ko-KR" altLang="en-US" dirty="0"/>
              <a:t>이미 사용중인 </a:t>
            </a:r>
            <a:r>
              <a:rPr lang="en-US" altLang="ko-KR" dirty="0"/>
              <a:t>ID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join.request.msg=</a:t>
            </a:r>
            <a:r>
              <a:rPr lang="ko-KR" altLang="en-US" dirty="0"/>
              <a:t>회원신청이 정상적으로 완료되었습니다</a:t>
            </a:r>
            <a:r>
              <a:rPr lang="en-US" altLang="ko-KR" dirty="0"/>
              <a:t>. </a:t>
            </a:r>
            <a:r>
              <a:rPr lang="ko-KR" altLang="en-US" dirty="0"/>
              <a:t>로그인 후 이용해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6B5D9A-2FDC-426B-8CA7-913E911EFCF6}"/>
              </a:ext>
            </a:extLst>
          </p:cNvPr>
          <p:cNvSpPr/>
          <p:nvPr/>
        </p:nvSpPr>
        <p:spPr>
          <a:xfrm>
            <a:off x="311647" y="255601"/>
            <a:ext cx="3458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/join/insertMember.do </a:t>
            </a:r>
            <a:r>
              <a:rPr lang="ko-KR" altLang="en-US" dirty="0"/>
              <a:t>작업 시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80EC1-D876-7546-F89F-12516DF6EDF4}"/>
              </a:ext>
            </a:extLst>
          </p:cNvPr>
          <p:cNvSpPr txBox="1"/>
          <p:nvPr/>
        </p:nvSpPr>
        <p:spPr>
          <a:xfrm>
            <a:off x="516800" y="26933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EgovMessageSource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DBA48E-EE41-67F2-6571-3C95C6227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00" y="3270706"/>
            <a:ext cx="7031681" cy="1497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9A884A-9354-BB76-17D5-7BBE8EBACDCB}"/>
              </a:ext>
            </a:extLst>
          </p:cNvPr>
          <p:cNvSpPr txBox="1"/>
          <p:nvPr/>
        </p:nvSpPr>
        <p:spPr>
          <a:xfrm>
            <a:off x="621322" y="5023339"/>
            <a:ext cx="483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 값 영어로 보이는 것 시연으로 보여주기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EAD4536-16E5-5B0B-EB7E-39F8CEDA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355" y="4896088"/>
            <a:ext cx="5669331" cy="189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4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298</Words>
  <Application>Microsoft Office PowerPoint</Application>
  <PresentationFormat>와이드스크린</PresentationFormat>
  <Paragraphs>39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50</cp:revision>
  <dcterms:created xsi:type="dcterms:W3CDTF">2021-08-31T12:05:11Z</dcterms:created>
  <dcterms:modified xsi:type="dcterms:W3CDTF">2026-06-23T14:52:00Z</dcterms:modified>
</cp:coreProperties>
</file>